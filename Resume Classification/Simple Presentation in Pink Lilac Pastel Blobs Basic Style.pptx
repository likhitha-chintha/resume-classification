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bril Fatface" charset="1" panose="02000503000000020003"/>
      <p:regular r:id="rId18"/>
    </p:embeddedFont>
    <p:embeddedFont>
      <p:font typeface="Canva Sans Bold" charset="1" panose="020B0803030501040103"/>
      <p:regular r:id="rId19"/>
    </p:embeddedFont>
    <p:embeddedFont>
      <p:font typeface="Playfair Display" charset="1" panose="00000000000000000000"/>
      <p:regular r:id="rId20"/>
    </p:embeddedFont>
    <p:embeddedFont>
      <p:font typeface="Canva Sans" charset="1" panose="020B0503030501040103"/>
      <p:regular r:id="rId21"/>
    </p:embeddedFont>
    <p:embeddedFont>
      <p:font typeface="Horizon" charset="1" panose="02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3.gif" Type="http://schemas.openxmlformats.org/officeDocument/2006/relationships/image"/><Relationship Id="rId4" Target="../media/image1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Relationship Id="rId5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gif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Relationship Id="rId5" Target="../media/image12.pn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89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217865" y="-2036742"/>
            <a:ext cx="15735219" cy="1388135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-235560" y="151429"/>
            <a:ext cx="18523560" cy="118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8"/>
              </a:lnSpc>
            </a:pPr>
            <a:r>
              <a:rPr lang="en-US" sz="8326">
                <a:solidFill>
                  <a:srgbClr val="2B2B2B"/>
                </a:solidFill>
                <a:latin typeface="Abril Fatface"/>
                <a:ea typeface="Abril Fatface"/>
                <a:cs typeface="Abril Fatface"/>
                <a:sym typeface="Abril Fatface"/>
              </a:rPr>
              <a:t>Resume classification and search 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4630462" y="8577052"/>
            <a:ext cx="9743013" cy="170994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0" y="2404008"/>
            <a:ext cx="14640861" cy="5662323"/>
          </a:xfrm>
          <a:custGeom>
            <a:avLst/>
            <a:gdLst/>
            <a:ahLst/>
            <a:cxnLst/>
            <a:rect r="r" b="b" t="t" l="l"/>
            <a:pathLst>
              <a:path h="5662323" w="14640861">
                <a:moveTo>
                  <a:pt x="0" y="0"/>
                </a:moveTo>
                <a:lnTo>
                  <a:pt x="14640861" y="0"/>
                </a:lnTo>
                <a:lnTo>
                  <a:pt x="14640861" y="5662324"/>
                </a:lnTo>
                <a:lnTo>
                  <a:pt x="0" y="5662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9063" r="0" b="-190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40861" y="2404008"/>
            <a:ext cx="3647139" cy="5662323"/>
          </a:xfrm>
          <a:custGeom>
            <a:avLst/>
            <a:gdLst/>
            <a:ahLst/>
            <a:cxnLst/>
            <a:rect r="r" b="b" t="t" l="l"/>
            <a:pathLst>
              <a:path h="5662323" w="3647139">
                <a:moveTo>
                  <a:pt x="0" y="0"/>
                </a:moveTo>
                <a:lnTo>
                  <a:pt x="3647139" y="0"/>
                </a:lnTo>
                <a:lnTo>
                  <a:pt x="3647139" y="5662324"/>
                </a:lnTo>
                <a:lnTo>
                  <a:pt x="0" y="56623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49" t="0" r="-494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947105" y="8767127"/>
            <a:ext cx="472737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Group :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098" y="7929596"/>
            <a:ext cx="4988823" cy="235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</a:pPr>
            <a:r>
              <a:rPr lang="en-US" sz="4475" b="tru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Mentors:</a:t>
            </a:r>
          </a:p>
          <a:p>
            <a:pPr algn="ctr">
              <a:lnSpc>
                <a:spcPts val="6265"/>
              </a:lnSpc>
            </a:pPr>
            <a:r>
              <a:rPr lang="en-US" sz="4475" b="tru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Snehal Shinde</a:t>
            </a:r>
          </a:p>
          <a:p>
            <a:pPr algn="ctr">
              <a:lnSpc>
                <a:spcPts val="6265"/>
              </a:lnSpc>
            </a:pPr>
            <a:r>
              <a:rPr lang="en-US" sz="4475" b="tru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 Harish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1304738" y="1537852"/>
            <a:ext cx="18288000" cy="1646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66164" indent="-483082" lvl="1">
              <a:lnSpc>
                <a:spcPts val="6265"/>
              </a:lnSpc>
              <a:buFont typeface="Arial"/>
              <a:buChar char="•"/>
            </a:pPr>
            <a:r>
              <a:rPr lang="en-US" b="true" sz="4475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Resume Parsing, Skill Extraction, and Classification Using Machine Learning</a:t>
            </a:r>
          </a:p>
          <a:p>
            <a:pPr algn="ctr">
              <a:lnSpc>
                <a:spcPts val="2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6758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7412" y="-171450"/>
            <a:ext cx="7168158" cy="142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0"/>
              </a:lnSpc>
            </a:pPr>
            <a:r>
              <a:rPr lang="en-US" sz="8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From : Group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7412" y="2013931"/>
            <a:ext cx="207600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Name: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1917" y="1502092"/>
            <a:ext cx="18271808" cy="176212"/>
            <a:chOff x="0" y="0"/>
            <a:chExt cx="24362410" cy="234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8260" y="39370"/>
              <a:ext cx="24267159" cy="242570"/>
            </a:xfrm>
            <a:custGeom>
              <a:avLst/>
              <a:gdLst/>
              <a:ahLst/>
              <a:cxnLst/>
              <a:rect r="r" b="b" t="t" l="l"/>
              <a:pathLst>
                <a:path h="242570" w="24267159">
                  <a:moveTo>
                    <a:pt x="63500" y="15240"/>
                  </a:moveTo>
                  <a:cubicBezTo>
                    <a:pt x="24232870" y="20320"/>
                    <a:pt x="24236681" y="24130"/>
                    <a:pt x="24245570" y="31750"/>
                  </a:cubicBezTo>
                  <a:cubicBezTo>
                    <a:pt x="24254460" y="38100"/>
                    <a:pt x="24259540" y="45720"/>
                    <a:pt x="24263349" y="55880"/>
                  </a:cubicBezTo>
                  <a:cubicBezTo>
                    <a:pt x="24265890" y="67310"/>
                    <a:pt x="24267160" y="86360"/>
                    <a:pt x="24263349" y="99060"/>
                  </a:cubicBezTo>
                  <a:cubicBezTo>
                    <a:pt x="24258270" y="111760"/>
                    <a:pt x="24250649" y="123190"/>
                    <a:pt x="24234140" y="130810"/>
                  </a:cubicBezTo>
                  <a:cubicBezTo>
                    <a:pt x="24193499" y="149860"/>
                    <a:pt x="24041099" y="153670"/>
                    <a:pt x="23990299" y="142240"/>
                  </a:cubicBezTo>
                  <a:cubicBezTo>
                    <a:pt x="23964899" y="137160"/>
                    <a:pt x="23947120" y="127000"/>
                    <a:pt x="23935690" y="114300"/>
                  </a:cubicBezTo>
                  <a:cubicBezTo>
                    <a:pt x="23926799" y="102870"/>
                    <a:pt x="23922990" y="87630"/>
                    <a:pt x="23924260" y="73660"/>
                  </a:cubicBezTo>
                  <a:cubicBezTo>
                    <a:pt x="23926799" y="55880"/>
                    <a:pt x="23940770" y="29210"/>
                    <a:pt x="23956010" y="20320"/>
                  </a:cubicBezTo>
                  <a:cubicBezTo>
                    <a:pt x="23972520" y="11430"/>
                    <a:pt x="24001729" y="8890"/>
                    <a:pt x="24018240" y="16510"/>
                  </a:cubicBezTo>
                  <a:cubicBezTo>
                    <a:pt x="24034749" y="24130"/>
                    <a:pt x="24052529" y="48260"/>
                    <a:pt x="24055070" y="66040"/>
                  </a:cubicBezTo>
                  <a:cubicBezTo>
                    <a:pt x="24058879" y="83820"/>
                    <a:pt x="24048720" y="111760"/>
                    <a:pt x="24036020" y="124460"/>
                  </a:cubicBezTo>
                  <a:cubicBezTo>
                    <a:pt x="24022049" y="137160"/>
                    <a:pt x="23994110" y="144780"/>
                    <a:pt x="23976329" y="140970"/>
                  </a:cubicBezTo>
                  <a:cubicBezTo>
                    <a:pt x="23958549" y="137160"/>
                    <a:pt x="23935690" y="118110"/>
                    <a:pt x="23929340" y="101600"/>
                  </a:cubicBezTo>
                  <a:cubicBezTo>
                    <a:pt x="23922990" y="83820"/>
                    <a:pt x="23925529" y="54610"/>
                    <a:pt x="23935690" y="39370"/>
                  </a:cubicBezTo>
                  <a:cubicBezTo>
                    <a:pt x="23945849" y="25400"/>
                    <a:pt x="23964899" y="16510"/>
                    <a:pt x="23990299" y="11430"/>
                  </a:cubicBezTo>
                  <a:cubicBezTo>
                    <a:pt x="24041099" y="0"/>
                    <a:pt x="24193499" y="3810"/>
                    <a:pt x="24234140" y="22860"/>
                  </a:cubicBezTo>
                  <a:cubicBezTo>
                    <a:pt x="24250649" y="30480"/>
                    <a:pt x="24258270" y="43180"/>
                    <a:pt x="24263349" y="55880"/>
                  </a:cubicBezTo>
                  <a:cubicBezTo>
                    <a:pt x="24267160" y="67310"/>
                    <a:pt x="24265890" y="86360"/>
                    <a:pt x="24263349" y="99060"/>
                  </a:cubicBezTo>
                  <a:cubicBezTo>
                    <a:pt x="24259540" y="107950"/>
                    <a:pt x="24254460" y="116840"/>
                    <a:pt x="24245570" y="121920"/>
                  </a:cubicBezTo>
                  <a:cubicBezTo>
                    <a:pt x="24236679" y="130810"/>
                    <a:pt x="24231599" y="133350"/>
                    <a:pt x="24206199" y="138430"/>
                  </a:cubicBezTo>
                  <a:cubicBezTo>
                    <a:pt x="23953470" y="184150"/>
                    <a:pt x="20699729" y="149860"/>
                    <a:pt x="19913599" y="144780"/>
                  </a:cubicBezTo>
                  <a:cubicBezTo>
                    <a:pt x="19616420" y="142240"/>
                    <a:pt x="19646899" y="137160"/>
                    <a:pt x="19300190" y="134620"/>
                  </a:cubicBezTo>
                  <a:cubicBezTo>
                    <a:pt x="17355820" y="118110"/>
                    <a:pt x="631190" y="242570"/>
                    <a:pt x="63500" y="139700"/>
                  </a:cubicBezTo>
                  <a:cubicBezTo>
                    <a:pt x="36830" y="134620"/>
                    <a:pt x="33020" y="132080"/>
                    <a:pt x="22860" y="123190"/>
                  </a:cubicBezTo>
                  <a:cubicBezTo>
                    <a:pt x="12700" y="114300"/>
                    <a:pt x="3810" y="97790"/>
                    <a:pt x="2540" y="83820"/>
                  </a:cubicBezTo>
                  <a:cubicBezTo>
                    <a:pt x="0" y="71120"/>
                    <a:pt x="3810" y="53340"/>
                    <a:pt x="12700" y="41910"/>
                  </a:cubicBezTo>
                  <a:cubicBezTo>
                    <a:pt x="22860" y="29210"/>
                    <a:pt x="63500" y="15240"/>
                    <a:pt x="63500" y="15240"/>
                  </a:cubicBezTo>
                </a:path>
              </a:pathLst>
            </a:custGeom>
            <a:solidFill>
              <a:srgbClr val="0D99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2463415" y="3253451"/>
            <a:ext cx="7037933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1:  Muskawad Raman Sopan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7869" y="4137371"/>
            <a:ext cx="7247483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2:  Waghmare  Priti Siddhart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3415" y="5021292"/>
            <a:ext cx="4622155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3: Jahanvi Tammu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63415" y="5905212"/>
            <a:ext cx="5122515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4: Mr.Bhanu Prasad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63415" y="6789133"/>
            <a:ext cx="4044107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5:  Kalpesh Patil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63415" y="7673054"/>
            <a:ext cx="4599980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6:  Chintha Likhita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E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5999"/>
          </a:blip>
          <a:srcRect l="0" t="0" r="0" b="0"/>
          <a:stretch>
            <a:fillRect/>
          </a:stretch>
        </p:blipFill>
        <p:spPr>
          <a:xfrm flipH="false" flipV="false" rot="-10800000">
            <a:off x="6333452" y="-376453"/>
            <a:ext cx="15735219" cy="1388135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70000"/>
          </a:blip>
          <a:srcRect l="0" t="0" r="0" b="0"/>
          <a:stretch>
            <a:fillRect/>
          </a:stretch>
        </p:blipFill>
        <p:spPr>
          <a:xfrm flipH="false" flipV="false" rot="0">
            <a:off x="-2318726" y="352420"/>
            <a:ext cx="9743013" cy="17099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9450598" y="3754615"/>
            <a:ext cx="9500927" cy="4347065"/>
          </a:xfrm>
          <a:custGeom>
            <a:avLst/>
            <a:gdLst/>
            <a:ahLst/>
            <a:cxnLst/>
            <a:rect r="r" b="b" t="t" l="l"/>
            <a:pathLst>
              <a:path h="4347065" w="9500927">
                <a:moveTo>
                  <a:pt x="0" y="0"/>
                </a:moveTo>
                <a:lnTo>
                  <a:pt x="9500927" y="0"/>
                </a:lnTo>
                <a:lnTo>
                  <a:pt x="9500927" y="4347066"/>
                </a:lnTo>
                <a:lnTo>
                  <a:pt x="0" y="43470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08" r="0" b="-50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338074" y="247645"/>
            <a:ext cx="6671526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:</a:t>
            </a:r>
          </a:p>
          <a:p>
            <a:pPr algn="ctr">
              <a:lnSpc>
                <a:spcPts val="83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30393" y="2258056"/>
            <a:ext cx="1618465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Simplify resume screening with automated tools.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5539547" y="1549541"/>
            <a:ext cx="16184656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6115316" y="3362321"/>
            <a:ext cx="16184656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3525398" y="4208775"/>
            <a:ext cx="16184656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Extract text from resumes (.docx, .pdf).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 technical skills and experience.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Classify resumes using machine learning.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Search and rank resumes based on criteria.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89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2000"/>
          </a:blip>
          <a:srcRect l="0" t="0" r="0" b="0"/>
          <a:stretch>
            <a:fillRect/>
          </a:stretch>
        </p:blipFill>
        <p:spPr>
          <a:xfrm flipH="false" flipV="false" rot="0">
            <a:off x="-2347623" y="0"/>
            <a:ext cx="9743013" cy="1709948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-606616" y="383271"/>
            <a:ext cx="13375132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Components &amp; Technical Stack :</a:t>
            </a:r>
          </a:p>
          <a:p>
            <a:pPr algn="ctr">
              <a:lnSpc>
                <a:spcPts val="7279"/>
              </a:lnSpc>
            </a:pP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65000"/>
          </a:blip>
          <a:srcRect l="0" t="0" r="0" b="0"/>
          <a:stretch>
            <a:fillRect/>
          </a:stretch>
        </p:blipFill>
        <p:spPr>
          <a:xfrm flipH="false" flipV="false" rot="-10800000">
            <a:off x="5206481" y="-1508212"/>
            <a:ext cx="15735219" cy="1388135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-1781449" y="1986343"/>
            <a:ext cx="7689018" cy="153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Stack:</a:t>
            </a:r>
          </a:p>
          <a:p>
            <a:pPr algn="ctr">
              <a:lnSpc>
                <a:spcPts val="5319"/>
              </a:lnSpc>
            </a:pPr>
          </a:p>
          <a:p>
            <a:pPr algn="ctr">
              <a:lnSpc>
                <a:spcPts val="15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99571" y="2827082"/>
            <a:ext cx="1621355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Python libraries: Streamlit, scikit-learn, TfidfVectorizer, PyPDF2.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Predefined technical skills for matching.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1608069" y="4038663"/>
            <a:ext cx="7689018" cy="153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Machine Learning:</a:t>
            </a:r>
          </a:p>
          <a:p>
            <a:pPr algn="ctr">
              <a:lnSpc>
                <a:spcPts val="5319"/>
              </a:lnSpc>
            </a:pPr>
          </a:p>
          <a:p>
            <a:pPr algn="ctr">
              <a:lnSpc>
                <a:spcPts val="15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236440" y="5108934"/>
            <a:ext cx="134315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Gradient Boosting Classifier for classification.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1781449" y="6090073"/>
            <a:ext cx="7689018" cy="153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Processing:</a:t>
            </a:r>
          </a:p>
          <a:p>
            <a:pPr algn="ctr">
              <a:lnSpc>
                <a:spcPts val="5319"/>
              </a:lnSpc>
            </a:pPr>
          </a:p>
          <a:p>
            <a:pPr algn="ctr">
              <a:lnSpc>
                <a:spcPts val="15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042573"/>
            <a:ext cx="1343155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TfidfVectorizer for text similarity.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Regex for experience extraction.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7AD">
                <a:alpha val="100000"/>
              </a:srgbClr>
            </a:gs>
            <a:gs pos="100000">
              <a:srgbClr val="FFA9F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0" y="141605"/>
            <a:ext cx="9144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 and Functionality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982042" y="2227355"/>
            <a:ext cx="9596201" cy="227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Functionalities:</a:t>
            </a:r>
          </a:p>
          <a:p>
            <a:pPr algn="ctr">
              <a:lnSpc>
                <a:spcPts val="5459"/>
              </a:lnSpc>
            </a:pPr>
          </a:p>
          <a:p>
            <a:pPr algn="ctr">
              <a:lnSpc>
                <a:spcPts val="5459"/>
              </a:lnSpc>
            </a:pPr>
          </a:p>
          <a:p>
            <a:pPr algn="ctr">
              <a:lnSpc>
                <a:spcPts val="16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596269" y="3803937"/>
            <a:ext cx="12655884" cy="260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Resume Extraction: Supports .docx and .pdf formats.</a:t>
            </a:r>
          </a:p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Text Processing: Extracts skills and experience.</a:t>
            </a:r>
          </a:p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Search and Filter: Allows criteria-based filtering.</a:t>
            </a:r>
          </a:p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Training: Uses Gradient Boosting Classifier.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E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188968" y="-1797179"/>
            <a:ext cx="15735219" cy="1388135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638479" y="6499648"/>
            <a:ext cx="11100978" cy="3940998"/>
          </a:xfrm>
          <a:custGeom>
            <a:avLst/>
            <a:gdLst/>
            <a:ahLst/>
            <a:cxnLst/>
            <a:rect r="r" b="b" t="t" l="l"/>
            <a:pathLst>
              <a:path h="3940998" w="11100978">
                <a:moveTo>
                  <a:pt x="0" y="0"/>
                </a:moveTo>
                <a:lnTo>
                  <a:pt x="11100978" y="0"/>
                </a:lnTo>
                <a:lnTo>
                  <a:pt x="11100978" y="3940997"/>
                </a:lnTo>
                <a:lnTo>
                  <a:pt x="0" y="3940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086244" y="141605"/>
            <a:ext cx="990752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EDA and Visualizations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086244" y="1266820"/>
            <a:ext cx="9596201" cy="149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 Data Analysis (EDA):</a:t>
            </a:r>
          </a:p>
          <a:p>
            <a:pPr algn="ctr">
              <a:lnSpc>
                <a:spcPts val="72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711856" y="1983100"/>
            <a:ext cx="1661810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Analyzing the distribution of key features such as                                                               skills, experience years, and resume categories.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-1664178" y="3262154"/>
            <a:ext cx="9596201" cy="155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Visualizations:</a:t>
            </a:r>
          </a:p>
          <a:p>
            <a:pPr algn="ctr">
              <a:lnSpc>
                <a:spcPts val="71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05751" y="4227913"/>
            <a:ext cx="16618106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Bar Charts: Display skill frequency in resumes.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Clouds: Highlight most common skills across resumes.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Experience Distribution: Visualize the years of experience among resumes.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89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188968" y="-1797179"/>
            <a:ext cx="15735219" cy="1388135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1707076" y="1945703"/>
            <a:ext cx="6551169" cy="4217135"/>
          </a:xfrm>
          <a:custGeom>
            <a:avLst/>
            <a:gdLst/>
            <a:ahLst/>
            <a:cxnLst/>
            <a:rect r="r" b="b" t="t" l="l"/>
            <a:pathLst>
              <a:path h="4217135" w="6551169">
                <a:moveTo>
                  <a:pt x="0" y="0"/>
                </a:moveTo>
                <a:lnTo>
                  <a:pt x="6551169" y="0"/>
                </a:lnTo>
                <a:lnTo>
                  <a:pt x="6551169" y="4217135"/>
                </a:lnTo>
                <a:lnTo>
                  <a:pt x="0" y="4217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838" r="-44041" b="-62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81025" y="1945703"/>
            <a:ext cx="7206975" cy="3902925"/>
          </a:xfrm>
          <a:custGeom>
            <a:avLst/>
            <a:gdLst/>
            <a:ahLst/>
            <a:cxnLst/>
            <a:rect r="r" b="b" t="t" l="l"/>
            <a:pathLst>
              <a:path h="3902925" w="7206975">
                <a:moveTo>
                  <a:pt x="0" y="0"/>
                </a:moveTo>
                <a:lnTo>
                  <a:pt x="7206975" y="0"/>
                </a:lnTo>
                <a:lnTo>
                  <a:pt x="7206975" y="3902925"/>
                </a:lnTo>
                <a:lnTo>
                  <a:pt x="0" y="3902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210" r="-8694" b="-421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8626" y="6337503"/>
            <a:ext cx="8085374" cy="3949497"/>
          </a:xfrm>
          <a:custGeom>
            <a:avLst/>
            <a:gdLst/>
            <a:ahLst/>
            <a:cxnLst/>
            <a:rect r="r" b="b" t="t" l="l"/>
            <a:pathLst>
              <a:path h="3949497" w="8085374">
                <a:moveTo>
                  <a:pt x="0" y="0"/>
                </a:moveTo>
                <a:lnTo>
                  <a:pt x="8085374" y="0"/>
                </a:lnTo>
                <a:lnTo>
                  <a:pt x="8085374" y="3949497"/>
                </a:lnTo>
                <a:lnTo>
                  <a:pt x="0" y="3949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16078" y="6093065"/>
            <a:ext cx="6336870" cy="4438372"/>
          </a:xfrm>
          <a:custGeom>
            <a:avLst/>
            <a:gdLst/>
            <a:ahLst/>
            <a:cxnLst/>
            <a:rect r="r" b="b" t="t" l="l"/>
            <a:pathLst>
              <a:path h="4438372" w="6336870">
                <a:moveTo>
                  <a:pt x="0" y="0"/>
                </a:moveTo>
                <a:lnTo>
                  <a:pt x="6336869" y="0"/>
                </a:lnTo>
                <a:lnTo>
                  <a:pt x="6336869" y="4438373"/>
                </a:lnTo>
                <a:lnTo>
                  <a:pt x="0" y="44383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1044" r="-3259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577934" y="141605"/>
            <a:ext cx="103698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EDA &amp;  Visualizations part: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02277" y="1365313"/>
            <a:ext cx="1036987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Plots:Histplot, Barplot,Heatmap,WordCloud,etc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7AD">
                <a:alpha val="100000"/>
              </a:srgbClr>
            </a:gs>
            <a:gs pos="100000">
              <a:srgbClr val="FFA9F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67813" y="1257295"/>
            <a:ext cx="16502520" cy="577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Performance: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Accuracy, Precision, Recall, and F1-score.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5739"/>
              </a:lnSpc>
            </a:pPr>
            <a:r>
              <a:rPr lang="en-US" sz="40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Techniques:</a:t>
            </a:r>
          </a:p>
          <a:p>
            <a:pPr algn="ctr">
              <a:lnSpc>
                <a:spcPts val="573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Hyperparameter Tuning.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Cross-validation to ensure model generalization.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5928148"/>
            <a:ext cx="8518393" cy="3914974"/>
          </a:xfrm>
          <a:custGeom>
            <a:avLst/>
            <a:gdLst/>
            <a:ahLst/>
            <a:cxnLst/>
            <a:rect r="r" b="b" t="t" l="l"/>
            <a:pathLst>
              <a:path h="3914974" w="8518393">
                <a:moveTo>
                  <a:pt x="0" y="0"/>
                </a:moveTo>
                <a:lnTo>
                  <a:pt x="8518393" y="0"/>
                </a:lnTo>
                <a:lnTo>
                  <a:pt x="8518393" y="3914974"/>
                </a:lnTo>
                <a:lnTo>
                  <a:pt x="0" y="3914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899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19073" y="6212791"/>
            <a:ext cx="8871460" cy="4773438"/>
          </a:xfrm>
          <a:custGeom>
            <a:avLst/>
            <a:gdLst/>
            <a:ahLst/>
            <a:cxnLst/>
            <a:rect r="r" b="b" t="t" l="l"/>
            <a:pathLst>
              <a:path h="4773438" w="8871460">
                <a:moveTo>
                  <a:pt x="0" y="0"/>
                </a:moveTo>
                <a:lnTo>
                  <a:pt x="8871460" y="0"/>
                </a:lnTo>
                <a:lnTo>
                  <a:pt x="8871460" y="4773437"/>
                </a:lnTo>
                <a:lnTo>
                  <a:pt x="0" y="4773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484149" y="141605"/>
            <a:ext cx="1363520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Model Evaluation &amp; Improvements 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E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0" y="1540157"/>
            <a:ext cx="16489715" cy="559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Deployment Process:                                                                                            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Deploy the Streamlit app on cloud platforms (AWS, Heroku, Google Cloud).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Scalability:                                                                                                    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Ensure scalability for handling large datasets of resumes.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parallel processing to speed up processing time.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101818" y="6122420"/>
            <a:ext cx="11484540" cy="4164580"/>
          </a:xfrm>
          <a:custGeom>
            <a:avLst/>
            <a:gdLst/>
            <a:ahLst/>
            <a:cxnLst/>
            <a:rect r="r" b="b" t="t" l="l"/>
            <a:pathLst>
              <a:path h="4164580" w="11484540">
                <a:moveTo>
                  <a:pt x="0" y="0"/>
                </a:moveTo>
                <a:lnTo>
                  <a:pt x="11484540" y="0"/>
                </a:lnTo>
                <a:lnTo>
                  <a:pt x="11484540" y="4164580"/>
                </a:lnTo>
                <a:lnTo>
                  <a:pt x="0" y="4164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77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1388" y="383271"/>
            <a:ext cx="8912612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Deployment &amp; Scalability :</a:t>
            </a:r>
          </a:p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7AD">
                <a:alpha val="100000"/>
              </a:srgbClr>
            </a:gs>
            <a:gs pos="100000">
              <a:srgbClr val="FFA9F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0" y="446400"/>
            <a:ext cx="1115008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and Considerations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2772" y="2585396"/>
            <a:ext cx="14739821" cy="386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Challenges:                                                                                          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Handling varied resume formats.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Extracting structured data from unstructured text.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Considerations:   </a:t>
            </a:r>
            <a:r>
              <a:rPr lang="en-US" sz="4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                                         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Balancing search specificity and broad applicability.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7AD">
                <a:alpha val="100000"/>
              </a:srgbClr>
            </a:gs>
            <a:gs pos="100000">
              <a:srgbClr val="FFA9F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1388" y="383271"/>
            <a:ext cx="1304484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Enhancements and Conclusion :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69503"/>
            <a:ext cx="16762590" cy="683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Enhancements:                                                                                       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Integration with ATS systems.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Multilingual resume support.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A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dvanced classification techniques.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Conclusion:                                                                                               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Streamlines recruitment processes, saves time, and improves productivity.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Efficient solution for resume parsing and classification using advanced ML techniques.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B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682146" y="3332689"/>
            <a:ext cx="13710047" cy="218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9"/>
              </a:lnSpc>
            </a:pPr>
            <a:r>
              <a:rPr lang="en-US" sz="11999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DAGcboCzKbk</dc:identifier>
  <dcterms:modified xsi:type="dcterms:W3CDTF">2011-08-01T06:04:30Z</dcterms:modified>
  <cp:revision>1</cp:revision>
  <dc:title>Simple Presentation in Pink Lilac Pastel Blobs Basic Style</dc:title>
</cp:coreProperties>
</file>